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and everyone! Today we are excited to introduce SiteForge — an autonomous, verified AI website builder that creates complete multi-page websites with real-time web research, grounded citations, automated Playwright link testing, and 1-click offline ZIP export.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you've ever used AI website builders, you know the frustration: generic tools invent fake phone numbers and corporate awards, generate dead links that lead to 404 pages, and when you ask for a small edit, the AI accidentally ruins your whole layout. We set out to fix all three.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SiteForge guarantees website accuracy before export. It uses Tavily web research to fetch real facts, Playwright headless browsers to test links at 375px and 1280px viewports, and SHA-256 cryptographic hashes to protect your edits.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SiteForge works under the hood. When a user inputs a prompt, our backend executes real-time web research, synthesizes a Zod-validated business spec, and generates production-ready multi-page HTML, CSS, and JS files.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makes SiteForge truly unique is our Playwright Verification Engine. Before you download your code, a headless browser tests every button, link, and contrast ratio. If a link is broken, SiteForge automatically catches and fixes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Visual Studio allows point-and-click editing. With SHA-256 section locking, you can modify one section while mathematically proving that all other sections remain untouched.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SiteForge includes a Hostinger-style template gallery featuring 12 hand-crafted categories. Users can preview templates in live iframe sandboxes and launch customized builds with one click.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students and researchers, we built the Knowledge Library. You can upload PDFs or notes, and SiteForge builds revision sites and flashcards grounded strictly in your uploaded materials with exact page citations.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Accessibility is a core priority. SiteForge natively supports English, Telugu, and Hindi website generation, along with WCAG 2.2 AA accessibility standards and instant theme mode switching.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engineered SiteForge to run on a 100% free-tier stack using Next.js 15, Groq's Llama 3.3 70B model for ultra-fast inference, Tavily for web search, and Playwright for browser testing.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SiteForge bridges the gap between AI generation and production trust. Thank you, and we'd love to take your questions and show you the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360152" cy="1371600"/>
          </a:xfrm>
          <a:prstGeom prst="rect">
            <a:avLst/>
          </a:prstGeom>
          <a:noFill/>
        </p:spPr>
        <p:txBody>
          <a:bodyPr wrap="square">
            <a:spAutoFit/>
          </a:bodyPr>
          <a:lstStyle/>
          <a:p>
            <a:pPr>
              <a:defRPr sz="5400" b="1">
                <a:solidFill>
                  <a:srgbClr val="F97316"/>
                </a:solidFill>
              </a:defRPr>
            </a:pPr>
            <a:r>
              <a:t>SiteForge</a:t>
            </a:r>
          </a:p>
        </p:txBody>
      </p:sp>
      <p:sp>
        <p:nvSpPr>
          <p:cNvPr id="4" name="TextBox 3"/>
          <p:cNvSpPr txBox="1"/>
          <p:nvPr/>
        </p:nvSpPr>
        <p:spPr>
          <a:xfrm>
            <a:off x="914400" y="3291840"/>
            <a:ext cx="10360152" cy="914400"/>
          </a:xfrm>
          <a:prstGeom prst="rect">
            <a:avLst/>
          </a:prstGeom>
          <a:noFill/>
        </p:spPr>
        <p:txBody>
          <a:bodyPr wrap="square">
            <a:spAutoFit/>
          </a:bodyPr>
          <a:lstStyle/>
          <a:p>
            <a:pPr>
              <a:defRPr sz="2200" b="1">
                <a:solidFill>
                  <a:srgbClr val="F8FAFC"/>
                </a:solidFill>
              </a:defRPr>
            </a:pPr>
            <a:r>
              <a:t>Autonomous Verified AI Website Builder &amp; Hostinger-Style Template Engine</a:t>
            </a:r>
          </a:p>
        </p:txBody>
      </p:sp>
      <p:sp>
        <p:nvSpPr>
          <p:cNvPr id="5" name="TextBox 4"/>
          <p:cNvSpPr txBox="1"/>
          <p:nvPr/>
        </p:nvSpPr>
        <p:spPr>
          <a:xfrm>
            <a:off x="914400" y="4572000"/>
            <a:ext cx="10360152" cy="914400"/>
          </a:xfrm>
          <a:prstGeom prst="rect">
            <a:avLst/>
          </a:prstGeom>
          <a:noFill/>
        </p:spPr>
        <p:txBody>
          <a:bodyPr wrap="square">
            <a:spAutoFit/>
          </a:bodyPr>
          <a:lstStyle/>
          <a:p>
            <a:pPr>
              <a:defRPr sz="1600">
                <a:solidFill>
                  <a:srgbClr val="10B981"/>
                </a:solidFill>
              </a:defRPr>
            </a:pPr>
            <a:r>
              <a:t>Project Pitch Deck  |  Build websites you can trust — verified down to the byte.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02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The Problem with Traditional AI Website Builders</a:t>
            </a:r>
          </a:p>
        </p:txBody>
      </p:sp>
      <p:sp>
        <p:nvSpPr>
          <p:cNvPr id="5" name="Rounded Rectangle 4"/>
          <p:cNvSpPr/>
          <p:nvPr/>
        </p:nvSpPr>
        <p:spPr>
          <a:xfrm>
            <a:off x="731520" y="1645920"/>
            <a:ext cx="3328416" cy="4572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EF4444"/>
                </a:solidFill>
              </a:defRPr>
            </a:pPr>
            <a:r>
              <a:t>PROBLEM: UNVERIFIED DATA</a:t>
            </a:r>
          </a:p>
          <a:p>
            <a:pPr>
              <a:spcAft>
                <a:spcPts val="1400"/>
              </a:spcAft>
              <a:defRPr sz="1800" b="1">
                <a:solidFill>
                  <a:srgbClr val="F8FAFC"/>
                </a:solidFill>
              </a:defRPr>
            </a:pPr>
            <a:r>
              <a:t>1. Hallucinated Facts</a:t>
            </a:r>
          </a:p>
          <a:p>
            <a:pPr>
              <a:spcAft>
                <a:spcPts val="600"/>
              </a:spcAft>
              <a:defRPr sz="1300">
                <a:solidFill>
                  <a:srgbClr val="94A3B8"/>
                </a:solidFill>
              </a:defRPr>
            </a:pPr>
            <a:r>
              <a:t>Generic AI tools invent dummy phone numbers, non-existent addresses, and unbacked corporate awards.</a:t>
            </a:r>
          </a:p>
        </p:txBody>
      </p:sp>
      <p:sp>
        <p:nvSpPr>
          <p:cNvPr id="7" name="Rounded Rectangle 6"/>
          <p:cNvSpPr/>
          <p:nvPr/>
        </p:nvSpPr>
        <p:spPr>
          <a:xfrm>
            <a:off x="4425696" y="1645920"/>
            <a:ext cx="3328416" cy="4572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EF4444"/>
                </a:solidFill>
              </a:defRPr>
            </a:pPr>
            <a:r>
              <a:t>PROBLEM: BROKEN CODE</a:t>
            </a:r>
          </a:p>
          <a:p>
            <a:pPr>
              <a:spcAft>
                <a:spcPts val="1400"/>
              </a:spcAft>
              <a:defRPr sz="1800" b="1">
                <a:solidFill>
                  <a:srgbClr val="F8FAFC"/>
                </a:solidFill>
              </a:defRPr>
            </a:pPr>
            <a:r>
              <a:t>2. Dead Links &amp; 404 Pages</a:t>
            </a:r>
          </a:p>
          <a:p>
            <a:pPr>
              <a:spcAft>
                <a:spcPts val="600"/>
              </a:spcAft>
              <a:defRPr sz="1300">
                <a:solidFill>
                  <a:srgbClr val="94A3B8"/>
                </a:solidFill>
              </a:defRPr>
            </a:pPr>
            <a:r>
              <a:t>Generated code frequently contains unlinked CTA buttons, missing subpages, and non-functional forms.</a:t>
            </a:r>
          </a:p>
        </p:txBody>
      </p:sp>
      <p:sp>
        <p:nvSpPr>
          <p:cNvPr id="9" name="Rounded Rectangle 8"/>
          <p:cNvSpPr/>
          <p:nvPr/>
        </p:nvSpPr>
        <p:spPr>
          <a:xfrm>
            <a:off x="8119872" y="1645920"/>
            <a:ext cx="3328416" cy="4572000"/>
          </a:xfrm>
          <a:prstGeom prst="roundRect">
            <a:avLst/>
          </a:prstGeom>
          <a:solidFill>
            <a:srgbClr val="1E293B"/>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EF4444"/>
                </a:solidFill>
              </a:defRPr>
            </a:pPr>
            <a:r>
              <a:t>PROBLEM: SIDE-EFFECTS</a:t>
            </a:r>
          </a:p>
          <a:p>
            <a:pPr>
              <a:spcAft>
                <a:spcPts val="1400"/>
              </a:spcAft>
              <a:defRPr sz="1800" b="1">
                <a:solidFill>
                  <a:srgbClr val="F8FAFC"/>
                </a:solidFill>
              </a:defRPr>
            </a:pPr>
            <a:r>
              <a:t>3. Overwrite Damage</a:t>
            </a:r>
          </a:p>
          <a:p>
            <a:pPr>
              <a:spcAft>
                <a:spcPts val="600"/>
              </a:spcAft>
              <a:defRPr sz="1300">
                <a:solidFill>
                  <a:srgbClr val="94A3B8"/>
                </a:solidFill>
              </a:defRPr>
            </a:pPr>
            <a:r>
              <a:t>Prompting the AI to edit one section often mutates or destroys adjacent, perfectly styled sections.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03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The Solution: SiteForge Verified Architecture</a:t>
            </a:r>
          </a:p>
        </p:txBody>
      </p:sp>
      <p:sp>
        <p:nvSpPr>
          <p:cNvPr id="5" name="Rounded Rectangle 4"/>
          <p:cNvSpPr/>
          <p:nvPr/>
        </p:nvSpPr>
        <p:spPr>
          <a:xfrm>
            <a:off x="731520"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10B981"/>
                </a:solidFill>
              </a:defRPr>
            </a:pPr>
            <a:r>
              <a:t>FIX 1: ACCURACY</a:t>
            </a:r>
          </a:p>
          <a:p>
            <a:pPr>
              <a:spcAft>
                <a:spcPts val="1400"/>
              </a:spcAft>
              <a:defRPr sz="1800" b="1">
                <a:solidFill>
                  <a:srgbClr val="F8FAFC"/>
                </a:solidFill>
              </a:defRPr>
            </a:pPr>
            <a:r>
              <a:t>Grounded RAG Citations</a:t>
            </a:r>
          </a:p>
          <a:p>
            <a:pPr>
              <a:spcAft>
                <a:spcPts val="600"/>
              </a:spcAft>
              <a:defRPr sz="1300">
                <a:solidFill>
                  <a:srgbClr val="94A3B8"/>
                </a:solidFill>
              </a:defRPr>
            </a:pPr>
            <a:r>
              <a:t>Fetches live web research via Tavily API. All claim fields carry verified source citations or an explicit 'Needs review' flag.</a:t>
            </a:r>
          </a:p>
        </p:txBody>
      </p:sp>
      <p:sp>
        <p:nvSpPr>
          <p:cNvPr id="7" name="Rounded Rectangle 6"/>
          <p:cNvSpPr/>
          <p:nvPr/>
        </p:nvSpPr>
        <p:spPr>
          <a:xfrm>
            <a:off x="4425696"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10B981"/>
                </a:solidFill>
              </a:defRPr>
            </a:pPr>
            <a:r>
              <a:t>FIX 2: VERIFICATION</a:t>
            </a:r>
          </a:p>
          <a:p>
            <a:pPr>
              <a:spcAft>
                <a:spcPts val="1400"/>
              </a:spcAft>
              <a:defRPr sz="1800" b="1">
                <a:solidFill>
                  <a:srgbClr val="F8FAFC"/>
                </a:solidFill>
              </a:defRPr>
            </a:pPr>
            <a:r>
              <a:t>Playwright Link Audit</a:t>
            </a:r>
          </a:p>
          <a:p>
            <a:pPr>
              <a:spcAft>
                <a:spcPts val="600"/>
              </a:spcAft>
              <a:defRPr sz="1300">
                <a:solidFill>
                  <a:srgbClr val="94A3B8"/>
                </a:solidFill>
              </a:defRPr>
            </a:pPr>
            <a:r>
              <a:t>Headless browser crawls every subpage, button, and form across desktop &amp; mobile viewports before export is granted.</a:t>
            </a:r>
          </a:p>
        </p:txBody>
      </p:sp>
      <p:sp>
        <p:nvSpPr>
          <p:cNvPr id="9" name="Rounded Rectangle 8"/>
          <p:cNvSpPr/>
          <p:nvPr/>
        </p:nvSpPr>
        <p:spPr>
          <a:xfrm>
            <a:off x="8119872"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10B981"/>
                </a:solidFill>
              </a:defRPr>
            </a:pPr>
            <a:r>
              <a:t>FIX 3: ZERO-DAMAGE</a:t>
            </a:r>
          </a:p>
          <a:p>
            <a:pPr>
              <a:spcAft>
                <a:spcPts val="1400"/>
              </a:spcAft>
              <a:defRPr sz="1800" b="1">
                <a:solidFill>
                  <a:srgbClr val="F8FAFC"/>
                </a:solidFill>
              </a:defRPr>
            </a:pPr>
            <a:r>
              <a:t>SHA-256 Section Proofs</a:t>
            </a:r>
          </a:p>
          <a:p>
            <a:pPr>
              <a:spcAft>
                <a:spcPts val="600"/>
              </a:spcAft>
              <a:defRPr sz="1300">
                <a:solidFill>
                  <a:srgbClr val="94A3B8"/>
                </a:solidFill>
              </a:defRPr>
            </a:pPr>
            <a:r>
              <a:t>Computes section hashes before and after edits to mathematically prove non-target sections remain 100% byte-identical.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04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Autonomous Generation &amp; Compilation Pipeline</a:t>
            </a:r>
          </a:p>
        </p:txBody>
      </p:sp>
      <p:sp>
        <p:nvSpPr>
          <p:cNvPr id="5" name="Rounded Rectangle 4"/>
          <p:cNvSpPr/>
          <p:nvPr/>
        </p:nvSpPr>
        <p:spPr>
          <a:xfrm>
            <a:off x="731520"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3B82F6"/>
                </a:solidFill>
              </a:defRPr>
            </a:pPr>
            <a:r>
              <a:t>RESEARCH PHASE</a:t>
            </a:r>
          </a:p>
          <a:p>
            <a:pPr>
              <a:spcAft>
                <a:spcPts val="1400"/>
              </a:spcAft>
              <a:defRPr sz="1800" b="1">
                <a:solidFill>
                  <a:srgbClr val="F8FAFC"/>
                </a:solidFill>
              </a:defRPr>
            </a:pPr>
            <a:r>
              <a:t>Step 01: Web Research Engine</a:t>
            </a:r>
          </a:p>
          <a:p>
            <a:pPr>
              <a:spcAft>
                <a:spcPts val="600"/>
              </a:spcAft>
              <a:defRPr sz="1300">
                <a:solidFill>
                  <a:srgbClr val="94A3B8"/>
                </a:solidFill>
              </a:defRPr>
            </a:pPr>
            <a:r>
              <a:t>Tavily &amp; DuckDuckGo RAG search scrape live facts to ground business specs.</a:t>
            </a:r>
          </a:p>
        </p:txBody>
      </p:sp>
      <p:sp>
        <p:nvSpPr>
          <p:cNvPr id="7" name="Rounded Rectangle 6"/>
          <p:cNvSpPr/>
          <p:nvPr/>
        </p:nvSpPr>
        <p:spPr>
          <a:xfrm>
            <a:off x="4425696"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3B82F6"/>
                </a:solidFill>
              </a:defRPr>
            </a:pPr>
            <a:r>
              <a:t>COMPILATION PHASE</a:t>
            </a:r>
          </a:p>
          <a:p>
            <a:pPr>
              <a:spcAft>
                <a:spcPts val="1400"/>
              </a:spcAft>
              <a:defRPr sz="1800" b="1">
                <a:solidFill>
                  <a:srgbClr val="F8FAFC"/>
                </a:solidFill>
              </a:defRPr>
            </a:pPr>
            <a:r>
              <a:t>Step 02: Zod Spec Validation</a:t>
            </a:r>
          </a:p>
          <a:p>
            <a:pPr>
              <a:spcAft>
                <a:spcPts val="600"/>
              </a:spcAft>
              <a:defRPr sz="1300">
                <a:solidFill>
                  <a:srgbClr val="94A3B8"/>
                </a:solidFill>
              </a:defRPr>
            </a:pPr>
            <a:r>
              <a:t>Llama-3.3-70B compiles structured spec contract with strict schema validation.</a:t>
            </a:r>
          </a:p>
        </p:txBody>
      </p:sp>
      <p:sp>
        <p:nvSpPr>
          <p:cNvPr id="9" name="Rounded Rectangle 8"/>
          <p:cNvSpPr/>
          <p:nvPr/>
        </p:nvSpPr>
        <p:spPr>
          <a:xfrm>
            <a:off x="8119872"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3B82F6"/>
                </a:solidFill>
              </a:defRPr>
            </a:pPr>
            <a:r>
              <a:t>CODE SYNTHESIS</a:t>
            </a:r>
          </a:p>
          <a:p>
            <a:pPr>
              <a:spcAft>
                <a:spcPts val="1400"/>
              </a:spcAft>
              <a:defRPr sz="1800" b="1">
                <a:solidFill>
                  <a:srgbClr val="F8FAFC"/>
                </a:solidFill>
              </a:defRPr>
            </a:pPr>
            <a:r>
              <a:t>Step 03: Multi-Page Build</a:t>
            </a:r>
          </a:p>
          <a:p>
            <a:pPr>
              <a:spcAft>
                <a:spcPts val="600"/>
              </a:spcAft>
              <a:defRPr sz="1300">
                <a:solidFill>
                  <a:srgbClr val="94A3B8"/>
                </a:solidFill>
              </a:defRPr>
            </a:pPr>
            <a:r>
              <a:t>Generates index.html, about.html, services.html, contact.html, styles.css, script.js.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05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Automated Playwright Crawl &amp; Accessibility Audit</a:t>
            </a:r>
          </a:p>
        </p:txBody>
      </p:sp>
      <p:sp>
        <p:nvSpPr>
          <p:cNvPr id="5" name="Rounded Rectangle 4"/>
          <p:cNvSpPr/>
          <p:nvPr/>
        </p:nvSpPr>
        <p:spPr>
          <a:xfrm>
            <a:off x="731520" y="1645920"/>
            <a:ext cx="3328416"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F97316"/>
                </a:solidFill>
              </a:defRPr>
            </a:pPr>
            <a:r>
              <a:t>LINK AUDIT</a:t>
            </a:r>
          </a:p>
          <a:p>
            <a:pPr>
              <a:spcAft>
                <a:spcPts val="1400"/>
              </a:spcAft>
              <a:defRPr sz="1800" b="1">
                <a:solidFill>
                  <a:srgbClr val="F8FAFC"/>
                </a:solidFill>
              </a:defRPr>
            </a:pPr>
            <a:r>
              <a:t>Headless Link Crawl</a:t>
            </a:r>
          </a:p>
          <a:p>
            <a:pPr>
              <a:spcAft>
                <a:spcPts val="600"/>
              </a:spcAft>
              <a:defRPr sz="1300">
                <a:solidFill>
                  <a:srgbClr val="94A3B8"/>
                </a:solidFill>
              </a:defRPr>
            </a:pPr>
            <a:r>
              <a:t>Executes automated browser instances navigating every subpage to ensure 0 dead 404 links.</a:t>
            </a:r>
          </a:p>
        </p:txBody>
      </p:sp>
      <p:sp>
        <p:nvSpPr>
          <p:cNvPr id="7" name="Rounded Rectangle 6"/>
          <p:cNvSpPr/>
          <p:nvPr/>
        </p:nvSpPr>
        <p:spPr>
          <a:xfrm>
            <a:off x="4425696" y="1645920"/>
            <a:ext cx="3328416"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F97316"/>
                </a:solidFill>
              </a:defRPr>
            </a:pPr>
            <a:r>
              <a:t>VIEWPORT TEST</a:t>
            </a:r>
          </a:p>
          <a:p>
            <a:pPr>
              <a:spcAft>
                <a:spcPts val="1400"/>
              </a:spcAft>
              <a:defRPr sz="1800" b="1">
                <a:solidFill>
                  <a:srgbClr val="F8FAFC"/>
                </a:solidFill>
              </a:defRPr>
            </a:pPr>
            <a:r>
              <a:t>Responsive Viewports</a:t>
            </a:r>
          </a:p>
          <a:p>
            <a:pPr>
              <a:spcAft>
                <a:spcPts val="600"/>
              </a:spcAft>
              <a:defRPr sz="1300">
                <a:solidFill>
                  <a:srgbClr val="94A3B8"/>
                </a:solidFill>
              </a:defRPr>
            </a:pPr>
            <a:r>
              <a:t>Tests mobile (375px), tablet (768px), and desktop (1280px) breakpoints for fluid rendering.</a:t>
            </a:r>
          </a:p>
        </p:txBody>
      </p:sp>
      <p:sp>
        <p:nvSpPr>
          <p:cNvPr id="9" name="Rounded Rectangle 8"/>
          <p:cNvSpPr/>
          <p:nvPr/>
        </p:nvSpPr>
        <p:spPr>
          <a:xfrm>
            <a:off x="8119872" y="1645920"/>
            <a:ext cx="3328416"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F97316"/>
                </a:solidFill>
              </a:defRPr>
            </a:pPr>
            <a:r>
              <a:t>ACCESSIBILITY</a:t>
            </a:r>
          </a:p>
          <a:p>
            <a:pPr>
              <a:spcAft>
                <a:spcPts val="1400"/>
              </a:spcAft>
              <a:defRPr sz="1800" b="1">
                <a:solidFill>
                  <a:srgbClr val="F8FAFC"/>
                </a:solidFill>
              </a:defRPr>
            </a:pPr>
            <a:r>
              <a:t>WCAG AA Contrast Audit</a:t>
            </a:r>
          </a:p>
          <a:p>
            <a:pPr>
              <a:spcAft>
                <a:spcPts val="600"/>
              </a:spcAft>
              <a:defRPr sz="1300">
                <a:solidFill>
                  <a:srgbClr val="94A3B8"/>
                </a:solidFill>
              </a:defRPr>
            </a:pPr>
            <a:r>
              <a:t>Scans color contrast ratios across light and dark theme modes to guarantee WCAG 2.2 AA compliance.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06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Visual Studio &amp; Zero-Collateral Visual Editing</a:t>
            </a:r>
          </a:p>
        </p:txBody>
      </p:sp>
      <p:sp>
        <p:nvSpPr>
          <p:cNvPr id="5" name="Rounded Rectangle 4"/>
          <p:cNvSpPr/>
          <p:nvPr/>
        </p:nvSpPr>
        <p:spPr>
          <a:xfrm>
            <a:off x="731520"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10B981"/>
                </a:solidFill>
              </a:defRPr>
            </a:pPr>
            <a:r>
              <a:t>VISUAL EDITOR</a:t>
            </a:r>
          </a:p>
          <a:p>
            <a:pPr>
              <a:spcAft>
                <a:spcPts val="1400"/>
              </a:spcAft>
              <a:defRPr sz="1800" b="1">
                <a:solidFill>
                  <a:srgbClr val="F8FAFC"/>
                </a:solidFill>
              </a:defRPr>
            </a:pPr>
            <a:r>
              <a:t>Point-and-Click Studio</a:t>
            </a:r>
          </a:p>
          <a:p>
            <a:pPr>
              <a:spcAft>
                <a:spcPts val="600"/>
              </a:spcAft>
              <a:defRPr sz="1300">
                <a:solidFill>
                  <a:srgbClr val="94A3B8"/>
                </a:solidFill>
              </a:defRPr>
            </a:pPr>
            <a:r>
              <a:t>Edit text inline, swap color palettes, or adjust typography directly on the live canvas.</a:t>
            </a:r>
          </a:p>
        </p:txBody>
      </p:sp>
      <p:sp>
        <p:nvSpPr>
          <p:cNvPr id="7" name="Rounded Rectangle 6"/>
          <p:cNvSpPr/>
          <p:nvPr/>
        </p:nvSpPr>
        <p:spPr>
          <a:xfrm>
            <a:off x="4425696"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10B981"/>
                </a:solidFill>
              </a:defRPr>
            </a:pPr>
            <a:r>
              <a:t>ISOLATION CONTROL</a:t>
            </a:r>
          </a:p>
          <a:p>
            <a:pPr>
              <a:spcAft>
                <a:spcPts val="1400"/>
              </a:spcAft>
              <a:defRPr sz="1800" b="1">
                <a:solidFill>
                  <a:srgbClr val="F8FAFC"/>
                </a:solidFill>
              </a:defRPr>
            </a:pPr>
            <a:r>
              <a:t>Section Locking</a:t>
            </a:r>
          </a:p>
          <a:p>
            <a:pPr>
              <a:spcAft>
                <a:spcPts val="600"/>
              </a:spcAft>
              <a:defRPr sz="1300">
                <a:solidFill>
                  <a:srgbClr val="94A3B8"/>
                </a:solidFill>
              </a:defRPr>
            </a:pPr>
            <a:r>
              <a:t>Lock specific sections to prevent AI prompts from altering verified component layouts.</a:t>
            </a:r>
          </a:p>
        </p:txBody>
      </p:sp>
      <p:sp>
        <p:nvSpPr>
          <p:cNvPr id="9" name="Rounded Rectangle 8"/>
          <p:cNvSpPr/>
          <p:nvPr/>
        </p:nvSpPr>
        <p:spPr>
          <a:xfrm>
            <a:off x="8119872"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10B981"/>
                </a:solidFill>
              </a:defRPr>
            </a:pPr>
            <a:r>
              <a:t>INTEGRITY PROOF</a:t>
            </a:r>
          </a:p>
          <a:p>
            <a:pPr>
              <a:spcAft>
                <a:spcPts val="1400"/>
              </a:spcAft>
              <a:defRPr sz="1800" b="1">
                <a:solidFill>
                  <a:srgbClr val="F8FAFC"/>
                </a:solidFill>
              </a:defRPr>
            </a:pPr>
            <a:r>
              <a:t>SHA-256 Hash Auditing</a:t>
            </a:r>
          </a:p>
          <a:p>
            <a:pPr>
              <a:spcAft>
                <a:spcPts val="600"/>
              </a:spcAft>
              <a:defRPr sz="1300">
                <a:solidFill>
                  <a:srgbClr val="94A3B8"/>
                </a:solidFill>
              </a:defRPr>
            </a:pPr>
            <a:r>
              <a:t>Generates SHA-256 checksums before/after edits to verify 100% byte integrity of non-target sections.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07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Hostinger-Style Template Gallery (12 Categories)</a:t>
            </a:r>
          </a:p>
        </p:txBody>
      </p:sp>
      <p:sp>
        <p:nvSpPr>
          <p:cNvPr id="5" name="Rounded Rectangle 4"/>
          <p:cNvSpPr/>
          <p:nvPr/>
        </p:nvSpPr>
        <p:spPr>
          <a:xfrm>
            <a:off x="731520"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3B82F6"/>
                </a:solidFill>
              </a:defRPr>
            </a:pPr>
            <a:r>
              <a:t>TEMPLATE SUITE</a:t>
            </a:r>
          </a:p>
          <a:p>
            <a:pPr>
              <a:spcAft>
                <a:spcPts val="1400"/>
              </a:spcAft>
              <a:defRPr sz="1800" b="1">
                <a:solidFill>
                  <a:srgbClr val="F8FAFC"/>
                </a:solidFill>
              </a:defRPr>
            </a:pPr>
            <a:r>
              <a:t>12 Category Templates</a:t>
            </a:r>
          </a:p>
          <a:p>
            <a:pPr>
              <a:spcAft>
                <a:spcPts val="600"/>
              </a:spcAft>
              <a:defRPr sz="1300">
                <a:solidFill>
                  <a:srgbClr val="94A3B8"/>
                </a:solidFill>
              </a:defRPr>
            </a:pPr>
            <a:r>
              <a:t>SaaS Startup, Portfolio, Restaurant, Medical Clinic, Law Firm, E-commerce, Education, Real Estate, Photography, NGO, Agency, Blog.</a:t>
            </a:r>
          </a:p>
        </p:txBody>
      </p:sp>
      <p:sp>
        <p:nvSpPr>
          <p:cNvPr id="7" name="Rounded Rectangle 6"/>
          <p:cNvSpPr/>
          <p:nvPr/>
        </p:nvSpPr>
        <p:spPr>
          <a:xfrm>
            <a:off x="4425696"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3B82F6"/>
                </a:solidFill>
              </a:defRPr>
            </a:pPr>
            <a:r>
              <a:t>SANDBOX PREVIEW</a:t>
            </a:r>
          </a:p>
          <a:p>
            <a:pPr>
              <a:spcAft>
                <a:spcPts val="1400"/>
              </a:spcAft>
              <a:defRPr sz="1800" b="1">
                <a:solidFill>
                  <a:srgbClr val="F8FAFC"/>
                </a:solidFill>
              </a:defRPr>
            </a:pPr>
            <a:r>
              <a:t>Live Preview Sandbox</a:t>
            </a:r>
          </a:p>
          <a:p>
            <a:pPr>
              <a:spcAft>
                <a:spcPts val="600"/>
              </a:spcAft>
              <a:defRPr sz="1300">
                <a:solidFill>
                  <a:srgbClr val="94A3B8"/>
                </a:solidFill>
              </a:defRPr>
            </a:pPr>
            <a:r>
              <a:t>Inspect fully rendered template layouts in isolated iframe preview viewports prior to customization.</a:t>
            </a:r>
          </a:p>
        </p:txBody>
      </p:sp>
      <p:sp>
        <p:nvSpPr>
          <p:cNvPr id="9" name="Rounded Rectangle 8"/>
          <p:cNvSpPr/>
          <p:nvPr/>
        </p:nvSpPr>
        <p:spPr>
          <a:xfrm>
            <a:off x="8119872"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3B82F6"/>
                </a:solidFill>
              </a:defRPr>
            </a:pPr>
            <a:r>
              <a:t>FAST DEPLOYMENT</a:t>
            </a:r>
          </a:p>
          <a:p>
            <a:pPr>
              <a:spcAft>
                <a:spcPts val="1400"/>
              </a:spcAft>
              <a:defRPr sz="1800" b="1">
                <a:solidFill>
                  <a:srgbClr val="F8FAFC"/>
                </a:solidFill>
              </a:defRPr>
            </a:pPr>
            <a:r>
              <a:t>1-Click 'Use Template'</a:t>
            </a:r>
          </a:p>
          <a:p>
            <a:pPr>
              <a:spcAft>
                <a:spcPts val="600"/>
              </a:spcAft>
              <a:defRPr sz="1300">
                <a:solidFill>
                  <a:srgbClr val="94A3B8"/>
                </a:solidFill>
              </a:defRPr>
            </a:pPr>
            <a:r>
              <a:t>Pre-loads structured category schemas into the AI builder for fast 10-second deployment.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08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Knowledge Library for Students &amp; Researchers</a:t>
            </a:r>
          </a:p>
        </p:txBody>
      </p:sp>
      <p:sp>
        <p:nvSpPr>
          <p:cNvPr id="5" name="Rounded Rectangle 4"/>
          <p:cNvSpPr/>
          <p:nvPr/>
        </p:nvSpPr>
        <p:spPr>
          <a:xfrm>
            <a:off x="731520" y="1645920"/>
            <a:ext cx="3328416"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F97316"/>
                </a:solidFill>
              </a:defRPr>
            </a:pPr>
            <a:r>
              <a:t>DOCUMENT INGESTION</a:t>
            </a:r>
          </a:p>
          <a:p>
            <a:pPr>
              <a:spcAft>
                <a:spcPts val="1400"/>
              </a:spcAft>
              <a:defRPr sz="1800" b="1">
                <a:solidFill>
                  <a:srgbClr val="F8FAFC"/>
                </a:solidFill>
              </a:defRPr>
            </a:pPr>
            <a:r>
              <a:t>PDF &amp; Note Ingestion</a:t>
            </a:r>
          </a:p>
          <a:p>
            <a:pPr>
              <a:spcAft>
                <a:spcPts val="600"/>
              </a:spcAft>
              <a:defRPr sz="1300">
                <a:solidFill>
                  <a:srgbClr val="94A3B8"/>
                </a:solidFill>
              </a:defRPr>
            </a:pPr>
            <a:r>
              <a:t>Upload course notes, research PDFs, or study guides to build dedicated knowledge bases.</a:t>
            </a:r>
          </a:p>
        </p:txBody>
      </p:sp>
      <p:sp>
        <p:nvSpPr>
          <p:cNvPr id="7" name="Rounded Rectangle 6"/>
          <p:cNvSpPr/>
          <p:nvPr/>
        </p:nvSpPr>
        <p:spPr>
          <a:xfrm>
            <a:off x="4425696" y="1645920"/>
            <a:ext cx="3328416"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F97316"/>
                </a:solidFill>
              </a:defRPr>
            </a:pPr>
            <a:r>
              <a:t>FLASHCARD GENERATOR</a:t>
            </a:r>
          </a:p>
          <a:p>
            <a:pPr>
              <a:spcAft>
                <a:spcPts val="1400"/>
              </a:spcAft>
              <a:defRPr sz="1800" b="1">
                <a:solidFill>
                  <a:srgbClr val="F8FAFC"/>
                </a:solidFill>
              </a:defRPr>
            </a:pPr>
            <a:r>
              <a:t>Grounded Study Sites</a:t>
            </a:r>
          </a:p>
          <a:p>
            <a:pPr>
              <a:spcAft>
                <a:spcPts val="600"/>
              </a:spcAft>
              <a:defRPr sz="1300">
                <a:solidFill>
                  <a:srgbClr val="94A3B8"/>
                </a:solidFill>
              </a:defRPr>
            </a:pPr>
            <a:r>
              <a:t>Generates interactive flashcards and revision sites with exact page and chunk citations.</a:t>
            </a:r>
          </a:p>
        </p:txBody>
      </p:sp>
      <p:sp>
        <p:nvSpPr>
          <p:cNvPr id="9" name="Rounded Rectangle 8"/>
          <p:cNvSpPr/>
          <p:nvPr/>
        </p:nvSpPr>
        <p:spPr>
          <a:xfrm>
            <a:off x="8119872" y="1645920"/>
            <a:ext cx="3328416"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F97316"/>
                </a:solidFill>
              </a:defRPr>
            </a:pPr>
            <a:r>
              <a:t>STRICT GROUNDING</a:t>
            </a:r>
          </a:p>
          <a:p>
            <a:pPr>
              <a:spcAft>
                <a:spcPts val="1400"/>
              </a:spcAft>
              <a:defRPr sz="1800" b="1">
                <a:solidFill>
                  <a:srgbClr val="F8FAFC"/>
                </a:solidFill>
              </a:defRPr>
            </a:pPr>
            <a:r>
              <a:t>Zero Hallucination Guarantee</a:t>
            </a:r>
          </a:p>
          <a:p>
            <a:pPr>
              <a:spcAft>
                <a:spcPts val="600"/>
              </a:spcAft>
              <a:defRPr sz="1300">
                <a:solidFill>
                  <a:srgbClr val="94A3B8"/>
                </a:solidFill>
              </a:defRPr>
            </a:pPr>
            <a:r>
              <a:t>Displays 'Not found in uploaded sources' instead of inventing false information.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09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Multi-Lingual Generation &amp; WCAG Accessibility</a:t>
            </a:r>
          </a:p>
        </p:txBody>
      </p:sp>
      <p:sp>
        <p:nvSpPr>
          <p:cNvPr id="5" name="Rounded Rectangle 4"/>
          <p:cNvSpPr/>
          <p:nvPr/>
        </p:nvSpPr>
        <p:spPr>
          <a:xfrm>
            <a:off x="731520"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10B981"/>
                </a:solidFill>
              </a:defRPr>
            </a:pPr>
            <a:r>
              <a:t>MULTI-LINGUAL</a:t>
            </a:r>
          </a:p>
          <a:p>
            <a:pPr>
              <a:spcAft>
                <a:spcPts val="1400"/>
              </a:spcAft>
              <a:defRPr sz="1800" b="1">
                <a:solidFill>
                  <a:srgbClr val="F8FAFC"/>
                </a:solidFill>
              </a:defRPr>
            </a:pPr>
            <a:r>
              <a:t>Native Indic Scripts</a:t>
            </a:r>
          </a:p>
          <a:p>
            <a:pPr>
              <a:spcAft>
                <a:spcPts val="600"/>
              </a:spcAft>
              <a:defRPr sz="1300">
                <a:solidFill>
                  <a:srgbClr val="94A3B8"/>
                </a:solidFill>
              </a:defRPr>
            </a:pPr>
            <a:r>
              <a:t>Full generation and real-time UI toggling for English, Telugu (తెలుగు), and Hindi (हिन्दी).</a:t>
            </a:r>
          </a:p>
        </p:txBody>
      </p:sp>
      <p:sp>
        <p:nvSpPr>
          <p:cNvPr id="7" name="Rounded Rectangle 6"/>
          <p:cNvSpPr/>
          <p:nvPr/>
        </p:nvSpPr>
        <p:spPr>
          <a:xfrm>
            <a:off x="4425696"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10B981"/>
                </a:solidFill>
              </a:defRPr>
            </a:pPr>
            <a:r>
              <a:t>THEME MODES</a:t>
            </a:r>
          </a:p>
          <a:p>
            <a:pPr>
              <a:spcAft>
                <a:spcPts val="1400"/>
              </a:spcAft>
              <a:defRPr sz="1800" b="1">
                <a:solidFill>
                  <a:srgbClr val="F8FAFC"/>
                </a:solidFill>
              </a:defRPr>
            </a:pPr>
            <a:r>
              <a:t>Instant Theme Toggles</a:t>
            </a:r>
          </a:p>
          <a:p>
            <a:pPr>
              <a:spcAft>
                <a:spcPts val="600"/>
              </a:spcAft>
              <a:defRPr sz="1300">
                <a:solidFill>
                  <a:srgbClr val="94A3B8"/>
                </a:solidFill>
              </a:defRPr>
            </a:pPr>
            <a:r>
              <a:t>Seamless light and dark mode switching with persistent CSS custom properties.</a:t>
            </a:r>
          </a:p>
        </p:txBody>
      </p:sp>
      <p:sp>
        <p:nvSpPr>
          <p:cNvPr id="9" name="Rounded Rectangle 8"/>
          <p:cNvSpPr/>
          <p:nvPr/>
        </p:nvSpPr>
        <p:spPr>
          <a:xfrm>
            <a:off x="8119872"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10B981"/>
                </a:solidFill>
              </a:defRPr>
            </a:pPr>
            <a:r>
              <a:t>ACCESSIBILITY</a:t>
            </a:r>
          </a:p>
          <a:p>
            <a:pPr>
              <a:spcAft>
                <a:spcPts val="1400"/>
              </a:spcAft>
              <a:defRPr sz="1800" b="1">
                <a:solidFill>
                  <a:srgbClr val="F8FAFC"/>
                </a:solidFill>
              </a:defRPr>
            </a:pPr>
            <a:r>
              <a:t>Screen Reader Ready</a:t>
            </a:r>
          </a:p>
          <a:p>
            <a:pPr>
              <a:spcAft>
                <a:spcPts val="600"/>
              </a:spcAft>
              <a:defRPr sz="1300">
                <a:solidFill>
                  <a:srgbClr val="94A3B8"/>
                </a:solidFill>
              </a:defRPr>
            </a:pPr>
            <a:r>
              <a:t>Automated aria-labels, semantic HTML5 structure, and skip-navigation links.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10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Tech Stack &amp; 100% Free-Tier Architecture</a:t>
            </a:r>
          </a:p>
        </p:txBody>
      </p:sp>
      <p:sp>
        <p:nvSpPr>
          <p:cNvPr id="5" name="Rounded Rectangle 4"/>
          <p:cNvSpPr/>
          <p:nvPr/>
        </p:nvSpPr>
        <p:spPr>
          <a:xfrm>
            <a:off x="731520"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3B82F6"/>
                </a:solidFill>
              </a:defRPr>
            </a:pPr>
            <a:r>
              <a:t>CORE FRAMEWORK</a:t>
            </a:r>
          </a:p>
          <a:p>
            <a:pPr>
              <a:spcAft>
                <a:spcPts val="1400"/>
              </a:spcAft>
              <a:defRPr sz="1800" b="1">
                <a:solidFill>
                  <a:srgbClr val="F8FAFC"/>
                </a:solidFill>
              </a:defRPr>
            </a:pPr>
            <a:r>
              <a:t>Frontend &amp; Server</a:t>
            </a:r>
          </a:p>
          <a:p>
            <a:pPr>
              <a:spcAft>
                <a:spcPts val="600"/>
              </a:spcAft>
              <a:defRPr sz="1300">
                <a:solidFill>
                  <a:srgbClr val="94A3B8"/>
                </a:solidFill>
              </a:defRPr>
            </a:pPr>
            <a:r>
              <a:t>Next.js 15 App Router, React 19, TypeScript, Tailwind CSS, Lucide Icons.</a:t>
            </a:r>
          </a:p>
        </p:txBody>
      </p:sp>
      <p:sp>
        <p:nvSpPr>
          <p:cNvPr id="7" name="Rounded Rectangle 6"/>
          <p:cNvSpPr/>
          <p:nvPr/>
        </p:nvSpPr>
        <p:spPr>
          <a:xfrm>
            <a:off x="4425696"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3B82F6"/>
                </a:solidFill>
              </a:defRPr>
            </a:pPr>
            <a:r>
              <a:t>LLM &amp; RAG ENGINE</a:t>
            </a:r>
          </a:p>
          <a:p>
            <a:pPr>
              <a:spcAft>
                <a:spcPts val="1400"/>
              </a:spcAft>
              <a:defRPr sz="1800" b="1">
                <a:solidFill>
                  <a:srgbClr val="F8FAFC"/>
                </a:solidFill>
              </a:defRPr>
            </a:pPr>
            <a:r>
              <a:t>AI &amp; Web Search Stack</a:t>
            </a:r>
          </a:p>
          <a:p>
            <a:pPr>
              <a:spcAft>
                <a:spcPts val="600"/>
              </a:spcAft>
              <a:defRPr sz="1300">
                <a:solidFill>
                  <a:srgbClr val="94A3B8"/>
                </a:solidFill>
              </a:defRPr>
            </a:pPr>
            <a:r>
              <a:t>Groq Free Tier (Llama-3.3-70B), OpenRouter Free Tier, Tavily Search API.</a:t>
            </a:r>
          </a:p>
        </p:txBody>
      </p:sp>
      <p:sp>
        <p:nvSpPr>
          <p:cNvPr id="9" name="Rounded Rectangle 8"/>
          <p:cNvSpPr/>
          <p:nvPr/>
        </p:nvSpPr>
        <p:spPr>
          <a:xfrm>
            <a:off x="8119872"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3B82F6"/>
                </a:solidFill>
              </a:defRPr>
            </a:pPr>
            <a:r>
              <a:t>TESTING &amp; AUTOMATION</a:t>
            </a:r>
          </a:p>
          <a:p>
            <a:pPr>
              <a:spcAft>
                <a:spcPts val="1400"/>
              </a:spcAft>
              <a:defRPr sz="1800" b="1">
                <a:solidFill>
                  <a:srgbClr val="F8FAFC"/>
                </a:solidFill>
              </a:defRPr>
            </a:pPr>
            <a:r>
              <a:t>Verification &amp; Media</a:t>
            </a:r>
          </a:p>
          <a:p>
            <a:pPr>
              <a:spcAft>
                <a:spcPts val="600"/>
              </a:spcAft>
              <a:defRPr sz="1300">
                <a:solidFill>
                  <a:srgbClr val="94A3B8"/>
                </a:solidFill>
              </a:defRPr>
            </a:pPr>
            <a:r>
              <a:t>Playwright Chromium, FFmpeg Static, Google Text-to-Speech API.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9144000" cy="365760"/>
          </a:xfrm>
          <a:prstGeom prst="rect">
            <a:avLst/>
          </a:prstGeom>
          <a:noFill/>
        </p:spPr>
        <p:txBody>
          <a:bodyPr wrap="square">
            <a:spAutoFit/>
          </a:bodyPr>
          <a:lstStyle/>
          <a:p>
            <a:pPr>
              <a:defRPr sz="1100" b="1">
                <a:solidFill>
                  <a:srgbClr val="F97316"/>
                </a:solidFill>
              </a:defRPr>
            </a:pPr>
            <a:r>
              <a:t>SLIDE 11 | SITEFORGE VERIFIED AI BUILDER</a:t>
            </a:r>
          </a:p>
        </p:txBody>
      </p:sp>
      <p:sp>
        <p:nvSpPr>
          <p:cNvPr id="4" name="TextBox 3"/>
          <p:cNvSpPr txBox="1"/>
          <p:nvPr/>
        </p:nvSpPr>
        <p:spPr>
          <a:xfrm>
            <a:off x="731520" y="640080"/>
            <a:ext cx="10058400" cy="731520"/>
          </a:xfrm>
          <a:prstGeom prst="rect">
            <a:avLst/>
          </a:prstGeom>
          <a:noFill/>
        </p:spPr>
        <p:txBody>
          <a:bodyPr wrap="square">
            <a:spAutoFit/>
          </a:bodyPr>
          <a:lstStyle/>
          <a:p>
            <a:pPr>
              <a:defRPr sz="2600" b="1">
                <a:solidFill>
                  <a:srgbClr val="F8FAFC"/>
                </a:solidFill>
              </a:defRPr>
            </a:pPr>
            <a:r>
              <a:t>Conclusion &amp; Live Demo Summary</a:t>
            </a:r>
          </a:p>
        </p:txBody>
      </p:sp>
      <p:sp>
        <p:nvSpPr>
          <p:cNvPr id="5" name="Rounded Rectangle 4"/>
          <p:cNvSpPr/>
          <p:nvPr/>
        </p:nvSpPr>
        <p:spPr>
          <a:xfrm>
            <a:off x="731520" y="1645920"/>
            <a:ext cx="3328416" cy="457200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2962656" cy="4206240"/>
          </a:xfrm>
          <a:prstGeom prst="rect">
            <a:avLst/>
          </a:prstGeom>
          <a:noFill/>
        </p:spPr>
        <p:txBody>
          <a:bodyPr wrap="square">
            <a:spAutoFit/>
          </a:bodyPr>
          <a:lstStyle/>
          <a:p>
            <a:pPr>
              <a:spcAft>
                <a:spcPts val="1400"/>
              </a:spcAft>
              <a:defRPr sz="1000" b="1">
                <a:solidFill>
                  <a:srgbClr val="10B981"/>
                </a:solidFill>
              </a:defRPr>
            </a:pPr>
            <a:r>
              <a:t>DELIVERABLES</a:t>
            </a:r>
          </a:p>
          <a:p>
            <a:pPr>
              <a:spcAft>
                <a:spcPts val="1400"/>
              </a:spcAft>
              <a:defRPr sz="1800" b="1">
                <a:solidFill>
                  <a:srgbClr val="F8FAFC"/>
                </a:solidFill>
              </a:defRPr>
            </a:pPr>
            <a:r>
              <a:t>Key Accomplishments</a:t>
            </a:r>
          </a:p>
          <a:p>
            <a:pPr>
              <a:spcAft>
                <a:spcPts val="600"/>
              </a:spcAft>
              <a:defRPr sz="1300">
                <a:solidFill>
                  <a:srgbClr val="94A3B8"/>
                </a:solidFill>
              </a:defRPr>
            </a:pPr>
            <a:r>
              <a:t>✓ Autonomous Web Research RAG</a:t>
            </a:r>
            <a:br/>
            <a:r>
              <a:t>✓ Playwright Link &amp; Form Verification</a:t>
            </a:r>
            <a:br/>
            <a:r>
              <a:t>✓ SHA-256 Zero-Collateral Editing</a:t>
            </a:r>
            <a:br/>
            <a:r>
              <a:t>✓ Multi-Lingual &amp; 1-Click ZIP Export</a:t>
            </a:r>
          </a:p>
        </p:txBody>
      </p:sp>
      <p:sp>
        <p:nvSpPr>
          <p:cNvPr id="7" name="Rounded Rectangle 6"/>
          <p:cNvSpPr/>
          <p:nvPr/>
        </p:nvSpPr>
        <p:spPr>
          <a:xfrm>
            <a:off x="4425696" y="1645920"/>
            <a:ext cx="3328416" cy="4572000"/>
          </a:xfrm>
          <a:prstGeom prst="roundRect">
            <a:avLst/>
          </a:prstGeom>
          <a:solidFill>
            <a:srgbClr val="1E293B"/>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828800"/>
            <a:ext cx="2962656" cy="4206240"/>
          </a:xfrm>
          <a:prstGeom prst="rect">
            <a:avLst/>
          </a:prstGeom>
          <a:noFill/>
        </p:spPr>
        <p:txBody>
          <a:bodyPr wrap="square">
            <a:spAutoFit/>
          </a:bodyPr>
          <a:lstStyle/>
          <a:p>
            <a:pPr>
              <a:spcAft>
                <a:spcPts val="1400"/>
              </a:spcAft>
              <a:defRPr sz="1000" b="1">
                <a:solidFill>
                  <a:srgbClr val="F97316"/>
                </a:solidFill>
              </a:defRPr>
            </a:pPr>
            <a:r>
              <a:t>OFFLINE ZIP EXPORT</a:t>
            </a:r>
          </a:p>
          <a:p>
            <a:pPr>
              <a:spcAft>
                <a:spcPts val="1400"/>
              </a:spcAft>
              <a:defRPr sz="1800" b="1">
                <a:solidFill>
                  <a:srgbClr val="F8FAFC"/>
                </a:solidFill>
              </a:defRPr>
            </a:pPr>
            <a:r>
              <a:t>No Vendor Lock-In</a:t>
            </a:r>
          </a:p>
          <a:p>
            <a:pPr>
              <a:spcAft>
                <a:spcPts val="600"/>
              </a:spcAft>
              <a:defRPr sz="1300">
                <a:solidFill>
                  <a:srgbClr val="94A3B8"/>
                </a:solidFill>
              </a:defRPr>
            </a:pPr>
            <a:r>
              <a:t>Export 100% clean offline standard HTML5, CSS, JS, and JSON specs for immediate hosting on Vercel, Netlify, or GitHub Pages.</a:t>
            </a:r>
          </a:p>
        </p:txBody>
      </p:sp>
      <p:sp>
        <p:nvSpPr>
          <p:cNvPr id="9" name="Rounded Rectangle 8"/>
          <p:cNvSpPr/>
          <p:nvPr/>
        </p:nvSpPr>
        <p:spPr>
          <a:xfrm>
            <a:off x="8119872" y="1645920"/>
            <a:ext cx="3328416" cy="4572000"/>
          </a:xfrm>
          <a:prstGeom prst="roundRect">
            <a:avLst/>
          </a:prstGeom>
          <a:solidFill>
            <a:srgbClr val="1E293B"/>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02752" y="1828800"/>
            <a:ext cx="2962656" cy="4206240"/>
          </a:xfrm>
          <a:prstGeom prst="rect">
            <a:avLst/>
          </a:prstGeom>
          <a:noFill/>
        </p:spPr>
        <p:txBody>
          <a:bodyPr wrap="square">
            <a:spAutoFit/>
          </a:bodyPr>
          <a:lstStyle/>
          <a:p>
            <a:pPr>
              <a:spcAft>
                <a:spcPts val="1400"/>
              </a:spcAft>
              <a:defRPr sz="1000" b="1">
                <a:solidFill>
                  <a:srgbClr val="3B82F6"/>
                </a:solidFill>
              </a:defRPr>
            </a:pPr>
            <a:r>
              <a:t>THANK YOU</a:t>
            </a:r>
          </a:p>
          <a:p>
            <a:pPr>
              <a:spcAft>
                <a:spcPts val="1400"/>
              </a:spcAft>
              <a:defRPr sz="1800" b="1">
                <a:solidFill>
                  <a:srgbClr val="F8FAFC"/>
                </a:solidFill>
              </a:defRPr>
            </a:pPr>
            <a:r>
              <a:t>Q&amp;A Session</a:t>
            </a:r>
          </a:p>
          <a:p>
            <a:pPr>
              <a:spcAft>
                <a:spcPts val="600"/>
              </a:spcAft>
              <a:defRPr sz="1300">
                <a:solidFill>
                  <a:srgbClr val="94A3B8"/>
                </a:solidFill>
              </a:defRPr>
            </a:pPr>
            <a:r>
              <a:t>Thank you for listening! We are happy to answer any questions and demonstrate our live 2-minute video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